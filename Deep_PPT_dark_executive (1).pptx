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ark_executive_deep.jp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0" y="0"/>
            <a:ext cx="1645920" cy="411480"/>
          </a:xfrm>
          <a:prstGeom prst="rect">
            <a:avLst/>
          </a:prstGeom>
          <a:solidFill>
            <a:srgbClr val="DCB450"/>
          </a:solidFill>
          <a:ln>
            <a:noFill/>
          </a:ln>
        </p:spPr>
        <p:txBody>
          <a:bodyPr wrap="none">
            <a:spAutoFit/>
          </a:bodyPr>
          <a:lstStyle/>
          <a:p/>
        </p:txBody>
      </p:sp>
      <p:sp>
        <p:nvSpPr>
          <p:cNvPr id="4" name="TextBox 3"/>
          <p:cNvSpPr txBox="1"/>
          <p:nvPr/>
        </p:nvSpPr>
        <p:spPr>
          <a:xfrm>
            <a:off x="914400" y="822960"/>
            <a:ext cx="7315200" cy="1463040"/>
          </a:xfrm>
          <a:prstGeom prst="rect">
            <a:avLst/>
          </a:prstGeom>
          <a:noFill/>
        </p:spPr>
        <p:txBody>
          <a:bodyPr wrap="none">
            <a:spAutoFit/>
          </a:bodyPr>
          <a:lstStyle/>
          <a:p>
            <a:pPr>
              <a:defRPr sz="5600" b="1">
                <a:solidFill>
                  <a:srgbClr val="F0F5FA"/>
                </a:solidFill>
              </a:defRPr>
            </a:pPr>
            <a:r>
              <a:t>Slide 1: Title Slide</a:t>
            </a:r>
          </a:p>
        </p:txBody>
      </p:sp>
      <p:sp>
        <p:nvSpPr>
          <p:cNvPr id="5" name="TextBox 4"/>
          <p:cNvSpPr txBox="1"/>
          <p:nvPr/>
        </p:nvSpPr>
        <p:spPr>
          <a:xfrm>
            <a:off x="914400" y="2377440"/>
            <a:ext cx="7315200" cy="1005840"/>
          </a:xfrm>
          <a:prstGeom prst="rect">
            <a:avLst/>
          </a:prstGeom>
          <a:noFill/>
        </p:spPr>
        <p:txBody>
          <a:bodyPr wrap="square">
            <a:spAutoFit/>
          </a:bodyPr>
          <a:lstStyle/>
          <a:p>
            <a:pPr>
              <a:defRPr sz="2000">
                <a:solidFill>
                  <a:srgbClr val="C8DCF0"/>
                </a:solidFill>
              </a:defRPr>
            </a:pPr>
            <a:r>
              <a:t>AI in Healthcare: Transforming Patient Care Revolutionizing the future of healthcare with AI Empowering a healthier tomorrow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ark_executive_deep.jp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0" y="0"/>
            <a:ext cx="1645920" cy="411480"/>
          </a:xfrm>
          <a:prstGeom prst="rect">
            <a:avLst/>
          </a:prstGeom>
          <a:solidFill>
            <a:srgbClr val="DCB450"/>
          </a:solidFill>
          <a:ln>
            <a:noFill/>
          </a:ln>
        </p:spPr>
        <p:txBody>
          <a:bodyPr wrap="none">
            <a:spAutoFit/>
          </a:bodyPr>
          <a:lstStyle/>
          <a:p/>
        </p:txBody>
      </p:sp>
      <p:sp>
        <p:nvSpPr>
          <p:cNvPr id="4" name="TextBox 3"/>
          <p:cNvSpPr txBox="1"/>
          <p:nvPr/>
        </p:nvSpPr>
        <p:spPr>
          <a:xfrm>
            <a:off x="822960" y="731520"/>
            <a:ext cx="7315200" cy="914400"/>
          </a:xfrm>
          <a:prstGeom prst="rect">
            <a:avLst/>
          </a:prstGeom>
          <a:noFill/>
        </p:spPr>
        <p:txBody>
          <a:bodyPr wrap="none">
            <a:spAutoFit/>
          </a:bodyPr>
          <a:lstStyle/>
          <a:p>
            <a:pPr>
              <a:defRPr sz="2800" b="1">
                <a:solidFill>
                  <a:srgbClr val="F0F5FA"/>
                </a:solidFill>
              </a:defRPr>
            </a:pPr>
            <a:r>
              <a:t>Slide 2: Executive Summary</a:t>
            </a:r>
          </a:p>
        </p:txBody>
      </p:sp>
      <p:sp>
        <p:nvSpPr>
          <p:cNvPr id="5" name="TextBox 4"/>
          <p:cNvSpPr txBox="1"/>
          <p:nvPr/>
        </p:nvSpPr>
        <p:spPr>
          <a:xfrm>
            <a:off x="822960" y="1737360"/>
            <a:ext cx="7315200" cy="1463040"/>
          </a:xfrm>
          <a:prstGeom prst="rect">
            <a:avLst/>
          </a:prstGeom>
          <a:noFill/>
        </p:spPr>
        <p:txBody>
          <a:bodyPr wrap="square">
            <a:spAutoFit/>
          </a:bodyPr>
          <a:lstStyle/>
          <a:p>
            <a:pPr>
              <a:defRPr sz="2000">
                <a:solidFill>
                  <a:srgbClr val="C8DCF0"/>
                </a:solidFill>
              </a:defRPr>
            </a:pPr>
            <a:r>
              <a:t>This presentation provides an overview of the current state of AI in healthcare, highlighting its applications, benefits, and challenges. It also explores the market landscape and future outlook for this rapidly evolving field. The deck will delve into real-world examples, technical approaches, and case studies to illustrate the potential of AI in healthcare, as well as the regulatory and ethical considerations that must be addressed.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ark_executive_deep.jp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0" y="0"/>
            <a:ext cx="1645920" cy="411480"/>
          </a:xfrm>
          <a:prstGeom prst="rect">
            <a:avLst/>
          </a:prstGeom>
          <a:solidFill>
            <a:srgbClr val="DCB450"/>
          </a:solidFill>
          <a:ln>
            <a:noFill/>
          </a:ln>
        </p:spPr>
        <p:txBody>
          <a:bodyPr wrap="none">
            <a:spAutoFit/>
          </a:bodyPr>
          <a:lstStyle/>
          <a:p/>
        </p:txBody>
      </p:sp>
      <p:sp>
        <p:nvSpPr>
          <p:cNvPr id="4" name="TextBox 3"/>
          <p:cNvSpPr txBox="1"/>
          <p:nvPr/>
        </p:nvSpPr>
        <p:spPr>
          <a:xfrm>
            <a:off x="822960" y="731520"/>
            <a:ext cx="7315200" cy="914400"/>
          </a:xfrm>
          <a:prstGeom prst="rect">
            <a:avLst/>
          </a:prstGeom>
          <a:noFill/>
        </p:spPr>
        <p:txBody>
          <a:bodyPr wrap="none">
            <a:spAutoFit/>
          </a:bodyPr>
          <a:lstStyle/>
          <a:p>
            <a:pPr>
              <a:defRPr sz="2800" b="1">
                <a:solidFill>
                  <a:srgbClr val="F0F5FA"/>
                </a:solidFill>
              </a:defRPr>
            </a:pPr>
            <a:r>
              <a:t>Slide 3: Background &amp; Context</a:t>
            </a:r>
          </a:p>
        </p:txBody>
      </p:sp>
      <p:sp>
        <p:nvSpPr>
          <p:cNvPr id="5" name="TextBox 4"/>
          <p:cNvSpPr txBox="1"/>
          <p:nvPr/>
        </p:nvSpPr>
        <p:spPr>
          <a:xfrm>
            <a:off x="822960" y="1737360"/>
            <a:ext cx="7315200" cy="1463040"/>
          </a:xfrm>
          <a:prstGeom prst="rect">
            <a:avLst/>
          </a:prstGeom>
          <a:noFill/>
        </p:spPr>
        <p:txBody>
          <a:bodyPr wrap="square">
            <a:spAutoFit/>
          </a:bodyPr>
          <a:lstStyle/>
          <a:p>
            <a:pPr>
              <a:defRPr sz="2000">
                <a:solidFill>
                  <a:srgbClr val="C8DCF0"/>
                </a:solidFill>
              </a:defRPr>
            </a:pPr>
            <a:r>
              <a:t>The use of artificial intelligence in healthcare is not a new concept, with early applications dating back to the 1970s.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ark_executive_deep.jp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0" y="0"/>
            <a:ext cx="1645920" cy="411480"/>
          </a:xfrm>
          <a:prstGeom prst="rect">
            <a:avLst/>
          </a:prstGeom>
          <a:solidFill>
            <a:srgbClr val="DCB450"/>
          </a:solidFill>
          <a:ln>
            <a:noFill/>
          </a:ln>
        </p:spPr>
        <p:txBody>
          <a:bodyPr wrap="none">
            <a:spAutoFit/>
          </a:bodyPr>
          <a:lstStyle/>
          <a:p/>
        </p:txBody>
      </p:sp>
      <p:sp>
        <p:nvSpPr>
          <p:cNvPr id="4" name="TextBox 3"/>
          <p:cNvSpPr txBox="1"/>
          <p:nvPr/>
        </p:nvSpPr>
        <p:spPr>
          <a:xfrm>
            <a:off x="822960" y="731520"/>
            <a:ext cx="7315200" cy="914400"/>
          </a:xfrm>
          <a:prstGeom prst="rect">
            <a:avLst/>
          </a:prstGeom>
          <a:noFill/>
        </p:spPr>
        <p:txBody>
          <a:bodyPr wrap="none">
            <a:spAutoFit/>
          </a:bodyPr>
          <a:lstStyle/>
          <a:p>
            <a:pPr>
              <a:defRPr sz="2800" b="1">
                <a:solidFill>
                  <a:srgbClr val="F0F5FA"/>
                </a:solidFill>
              </a:defRPr>
            </a:pPr>
            <a:r>
              <a:t>Slide 4: Key Applications</a:t>
            </a:r>
          </a:p>
        </p:txBody>
      </p:sp>
      <p:sp>
        <p:nvSpPr>
          <p:cNvPr id="5" name="TextBox 4"/>
          <p:cNvSpPr txBox="1"/>
          <p:nvPr/>
        </p:nvSpPr>
        <p:spPr>
          <a:xfrm>
            <a:off x="822960" y="1737360"/>
            <a:ext cx="7315200" cy="1463040"/>
          </a:xfrm>
          <a:prstGeom prst="rect">
            <a:avLst/>
          </a:prstGeom>
          <a:noFill/>
        </p:spPr>
        <p:txBody>
          <a:bodyPr wrap="square">
            <a:spAutoFit/>
          </a:bodyPr>
          <a:lstStyle/>
          <a:p>
            <a:pPr>
              <a:defRPr sz="2000">
                <a:solidFill>
                  <a:srgbClr val="C8DCF0"/>
                </a:solidFill>
              </a:defRPr>
            </a:pPr>
            <a:r>
              <a:t>AI is being applied in various areas of healthcare, including medical imaging, clinical decision support, patient engagement, and personalized medicine. For instance, AI-powered algorithms can analyze medical images to detect abnormalities, such as tumors, and assist radiologists in making more accurate diagnoses. Additionally, AI-driven chatbots can help patients manage their health, provide personalized recommendations, and facilitate communication with healthcare providers.</a:t>
            </a:r>
          </a:p>
        </p:txBody>
      </p:sp>
      <p:sp>
        <p:nvSpPr>
          <p:cNvPr id="6" name="TextBox 5"/>
          <p:cNvSpPr txBox="1"/>
          <p:nvPr/>
        </p:nvSpPr>
        <p:spPr>
          <a:xfrm>
            <a:off x="822960" y="2834640"/>
            <a:ext cx="7315200" cy="1463040"/>
          </a:xfrm>
          <a:prstGeom prst="rect">
            <a:avLst/>
          </a:prstGeom>
          <a:noFill/>
        </p:spPr>
        <p:txBody>
          <a:bodyPr wrap="square">
            <a:spAutoFit/>
          </a:bodyPr>
          <a:lstStyle/>
          <a:p>
            <a:pPr>
              <a:defRPr sz="2000">
                <a:solidFill>
                  <a:srgbClr val="C8DCF0"/>
                </a:solidFill>
              </a:defRPr>
            </a:pPr>
            <a:r>
              <a:t>Companies like IBM and Google are already exploring these applications, with IBM's Watson Health platform being a notable example.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ark_executive_deep.jp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0" y="0"/>
            <a:ext cx="1645920" cy="411480"/>
          </a:xfrm>
          <a:prstGeom prst="rect">
            <a:avLst/>
          </a:prstGeom>
          <a:solidFill>
            <a:srgbClr val="DCB450"/>
          </a:solidFill>
          <a:ln>
            <a:noFill/>
          </a:ln>
        </p:spPr>
        <p:txBody>
          <a:bodyPr wrap="none">
            <a:spAutoFit/>
          </a:bodyPr>
          <a:lstStyle/>
          <a:p/>
        </p:txBody>
      </p:sp>
      <p:sp>
        <p:nvSpPr>
          <p:cNvPr id="4" name="TextBox 3"/>
          <p:cNvSpPr txBox="1"/>
          <p:nvPr/>
        </p:nvSpPr>
        <p:spPr>
          <a:xfrm>
            <a:off x="822960" y="731520"/>
            <a:ext cx="7315200" cy="914400"/>
          </a:xfrm>
          <a:prstGeom prst="rect">
            <a:avLst/>
          </a:prstGeom>
          <a:noFill/>
        </p:spPr>
        <p:txBody>
          <a:bodyPr wrap="none">
            <a:spAutoFit/>
          </a:bodyPr>
          <a:lstStyle/>
          <a:p>
            <a:pPr>
              <a:defRPr sz="2800" b="1">
                <a:solidFill>
                  <a:srgbClr val="F0F5FA"/>
                </a:solidFill>
              </a:defRPr>
            </a:pPr>
            <a:r>
              <a:t>Slide 5: Benefits &amp; Impact</a:t>
            </a:r>
          </a:p>
        </p:txBody>
      </p:sp>
      <p:sp>
        <p:nvSpPr>
          <p:cNvPr id="5" name="TextBox 4"/>
          <p:cNvSpPr txBox="1"/>
          <p:nvPr/>
        </p:nvSpPr>
        <p:spPr>
          <a:xfrm>
            <a:off x="822960" y="1645920"/>
            <a:ext cx="7315200" cy="4572000"/>
          </a:xfrm>
          <a:prstGeom prst="rect">
            <a:avLst/>
          </a:prstGeom>
          <a:noFill/>
        </p:spPr>
        <p:txBody>
          <a:bodyPr wrap="none">
            <a:spAutoFit/>
          </a:bodyPr>
          <a:lstStyle/>
          <a:p/>
          <a:p>
            <a:pPr>
              <a:defRPr sz="2000">
                <a:solidFill>
                  <a:srgbClr val="C8DCF0"/>
                </a:solidFill>
              </a:defRPr>
            </a:pPr>
            <a:r>
              <a:t>• Improved patient outcomes through personalized medicine</a:t>
            </a:r>
          </a:p>
          <a:p>
            <a:pPr>
              <a:defRPr sz="2000">
                <a:solidFill>
                  <a:srgbClr val="C8DCF0"/>
                </a:solidFill>
              </a:defRPr>
            </a:pPr>
            <a:r>
              <a:t>• Enhanced operational efficiency and reduced costs</a:t>
            </a:r>
          </a:p>
          <a:p>
            <a:pPr>
              <a:defRPr sz="2000">
                <a:solidFill>
                  <a:srgbClr val="C8DCF0"/>
                </a:solidFill>
              </a:defRPr>
            </a:pPr>
            <a:r>
              <a:t>• Increased patient engagement and empowerment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ark_executive_deep.jp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0" y="0"/>
            <a:ext cx="1645920" cy="411480"/>
          </a:xfrm>
          <a:prstGeom prst="rect">
            <a:avLst/>
          </a:prstGeom>
          <a:solidFill>
            <a:srgbClr val="DCB450"/>
          </a:solidFill>
          <a:ln>
            <a:noFill/>
          </a:ln>
        </p:spPr>
        <p:txBody>
          <a:bodyPr wrap="none">
            <a:spAutoFit/>
          </a:bodyPr>
          <a:lstStyle/>
          <a:p/>
        </p:txBody>
      </p:sp>
      <p:sp>
        <p:nvSpPr>
          <p:cNvPr id="4" name="TextBox 3"/>
          <p:cNvSpPr txBox="1"/>
          <p:nvPr/>
        </p:nvSpPr>
        <p:spPr>
          <a:xfrm>
            <a:off x="822960" y="731520"/>
            <a:ext cx="7315200" cy="914400"/>
          </a:xfrm>
          <a:prstGeom prst="rect">
            <a:avLst/>
          </a:prstGeom>
          <a:noFill/>
        </p:spPr>
        <p:txBody>
          <a:bodyPr wrap="none">
            <a:spAutoFit/>
          </a:bodyPr>
          <a:lstStyle/>
          <a:p>
            <a:pPr>
              <a:defRPr sz="2800" b="1">
                <a:solidFill>
                  <a:srgbClr val="F0F5FA"/>
                </a:solidFill>
              </a:defRPr>
            </a:pPr>
            <a:r>
              <a:t>Slide 6: Market Landscape</a:t>
            </a:r>
          </a:p>
        </p:txBody>
      </p:sp>
      <p:sp>
        <p:nvSpPr>
          <p:cNvPr id="5" name="TextBox 4"/>
          <p:cNvSpPr txBox="1"/>
          <p:nvPr/>
        </p:nvSpPr>
        <p:spPr>
          <a:xfrm>
            <a:off x="822960" y="1737360"/>
            <a:ext cx="7315200" cy="1463040"/>
          </a:xfrm>
          <a:prstGeom prst="rect">
            <a:avLst/>
          </a:prstGeom>
          <a:noFill/>
        </p:spPr>
        <p:txBody>
          <a:bodyPr wrap="square">
            <a:spAutoFit/>
          </a:bodyPr>
          <a:lstStyle/>
          <a:p>
            <a:pPr>
              <a:defRPr sz="2000">
                <a:solidFill>
                  <a:srgbClr val="C8DCF0"/>
                </a:solidFill>
              </a:defRPr>
            </a:pPr>
            <a:r>
              <a:t>The market for AI in healthcare is rapidly growing, with leading companies like Microsoft and Amazon investing heavily in this space.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ark_executive_deep.jp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0" y="0"/>
            <a:ext cx="1645920" cy="411480"/>
          </a:xfrm>
          <a:prstGeom prst="rect">
            <a:avLst/>
          </a:prstGeom>
          <a:solidFill>
            <a:srgbClr val="DCB450"/>
          </a:solidFill>
          <a:ln>
            <a:noFill/>
          </a:ln>
        </p:spPr>
        <p:txBody>
          <a:bodyPr wrap="none">
            <a:spAutoFit/>
          </a:bodyPr>
          <a:lstStyle/>
          <a:p/>
        </p:txBody>
      </p:sp>
      <p:sp>
        <p:nvSpPr>
          <p:cNvPr id="4" name="TextBox 3"/>
          <p:cNvSpPr txBox="1"/>
          <p:nvPr/>
        </p:nvSpPr>
        <p:spPr>
          <a:xfrm>
            <a:off x="822960" y="731520"/>
            <a:ext cx="7315200" cy="914400"/>
          </a:xfrm>
          <a:prstGeom prst="rect">
            <a:avLst/>
          </a:prstGeom>
          <a:noFill/>
        </p:spPr>
        <p:txBody>
          <a:bodyPr wrap="none">
            <a:spAutoFit/>
          </a:bodyPr>
          <a:lstStyle/>
          <a:p>
            <a:pPr>
              <a:defRPr sz="2800" b="1">
                <a:solidFill>
                  <a:srgbClr val="F0F5FA"/>
                </a:solidFill>
              </a:defRPr>
            </a:pPr>
            <a:r>
              <a:t>Slide 7: Technical Approach / How it Works</a:t>
            </a:r>
          </a:p>
        </p:txBody>
      </p:sp>
      <p:sp>
        <p:nvSpPr>
          <p:cNvPr id="5" name="TextBox 4"/>
          <p:cNvSpPr txBox="1"/>
          <p:nvPr/>
        </p:nvSpPr>
        <p:spPr>
          <a:xfrm>
            <a:off x="822960" y="1737360"/>
            <a:ext cx="7315200" cy="1463040"/>
          </a:xfrm>
          <a:prstGeom prst="rect">
            <a:avLst/>
          </a:prstGeom>
          <a:noFill/>
        </p:spPr>
        <p:txBody>
          <a:bodyPr wrap="square">
            <a:spAutoFit/>
          </a:bodyPr>
          <a:lstStyle/>
          <a:p>
            <a:pPr>
              <a:defRPr sz="2000">
                <a:solidFill>
                  <a:srgbClr val="C8DCF0"/>
                </a:solidFill>
              </a:defRPr>
            </a:pPr>
            <a:r>
              <a:t>The technical approach to AI in healthcare typically involves the use of machine learning algorithms, natural language processing, and computer vision.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ark_executive_deep.jp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0" y="0"/>
            <a:ext cx="1645920" cy="411480"/>
          </a:xfrm>
          <a:prstGeom prst="rect">
            <a:avLst/>
          </a:prstGeom>
          <a:solidFill>
            <a:srgbClr val="DCB450"/>
          </a:solidFill>
          <a:ln>
            <a:noFill/>
          </a:ln>
        </p:spPr>
        <p:txBody>
          <a:bodyPr wrap="none">
            <a:spAutoFit/>
          </a:bodyPr>
          <a:lstStyle/>
          <a:p/>
        </p:txBody>
      </p:sp>
      <p:sp>
        <p:nvSpPr>
          <p:cNvPr id="4" name="TextBox 3"/>
          <p:cNvSpPr txBox="1"/>
          <p:nvPr/>
        </p:nvSpPr>
        <p:spPr>
          <a:xfrm>
            <a:off x="822960" y="731520"/>
            <a:ext cx="7315200" cy="914400"/>
          </a:xfrm>
          <a:prstGeom prst="rect">
            <a:avLst/>
          </a:prstGeom>
          <a:noFill/>
        </p:spPr>
        <p:txBody>
          <a:bodyPr wrap="none">
            <a:spAutoFit/>
          </a:bodyPr>
          <a:lstStyle/>
          <a:p>
            <a:pPr>
              <a:defRPr sz="2800" b="1">
                <a:solidFill>
                  <a:srgbClr val="F0F5FA"/>
                </a:solidFill>
              </a:defRPr>
            </a:pPr>
            <a:r>
              <a:t>Slide 8: Case Study</a:t>
            </a:r>
          </a:p>
        </p:txBody>
      </p:sp>
      <p:sp>
        <p:nvSpPr>
          <p:cNvPr id="5" name="TextBox 4"/>
          <p:cNvSpPr txBox="1"/>
          <p:nvPr/>
        </p:nvSpPr>
        <p:spPr>
          <a:xfrm>
            <a:off x="822960" y="1737360"/>
            <a:ext cx="7315200" cy="1463040"/>
          </a:xfrm>
          <a:prstGeom prst="rect">
            <a:avLst/>
          </a:prstGeom>
          <a:noFill/>
        </p:spPr>
        <p:txBody>
          <a:bodyPr wrap="square">
            <a:spAutoFit/>
          </a:bodyPr>
          <a:lstStyle/>
          <a:p>
            <a:pPr>
              <a:defRPr sz="2000">
                <a:solidFill>
                  <a:srgbClr val="C8DCF0"/>
                </a:solidFill>
              </a:defRPr>
            </a:pPr>
            <a:r>
              <a:t>A notable example of AI in healthcare is the partnership between Google and the University of California, Los Angeles (UCLA) to develop an AI-powered platform for detecting breast cancer. The platform uses machine learning algorithms to analyze medical images and identify potential abnormalities, with a reported accuracy rate of 97%. This case study demonstrates the potential of AI to improve diagnosis accuracy and enhance patient outcomes.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ark_executive_deep.jp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0" y="0"/>
            <a:ext cx="1645920" cy="411480"/>
          </a:xfrm>
          <a:prstGeom prst="rect">
            <a:avLst/>
          </a:prstGeom>
          <a:solidFill>
            <a:srgbClr val="DCB450"/>
          </a:solidFill>
          <a:ln>
            <a:noFill/>
          </a:ln>
        </p:spPr>
        <p:txBody>
          <a:bodyPr wrap="none">
            <a:spAutoFit/>
          </a:bodyPr>
          <a:lstStyle/>
          <a:p/>
        </p:txBody>
      </p:sp>
      <p:sp>
        <p:nvSpPr>
          <p:cNvPr id="4" name="TextBox 3"/>
          <p:cNvSpPr txBox="1"/>
          <p:nvPr/>
        </p:nvSpPr>
        <p:spPr>
          <a:xfrm>
            <a:off x="822960" y="731520"/>
            <a:ext cx="7315200" cy="914400"/>
          </a:xfrm>
          <a:prstGeom prst="rect">
            <a:avLst/>
          </a:prstGeom>
          <a:noFill/>
        </p:spPr>
        <p:txBody>
          <a:bodyPr wrap="none">
            <a:spAutoFit/>
          </a:bodyPr>
          <a:lstStyle/>
          <a:p>
            <a:pPr>
              <a:defRPr sz="2800" b="1">
                <a:solidFill>
                  <a:srgbClr val="F0F5FA"/>
                </a:solidFill>
              </a:defRPr>
            </a:pPr>
            <a:r>
              <a:t>Slide 9: Challenges &amp; Ethics</a:t>
            </a:r>
          </a:p>
        </p:txBody>
      </p:sp>
      <p:sp>
        <p:nvSpPr>
          <p:cNvPr id="5" name="TextBox 4"/>
          <p:cNvSpPr txBox="1"/>
          <p:nvPr/>
        </p:nvSpPr>
        <p:spPr>
          <a:xfrm>
            <a:off x="822960" y="1737360"/>
            <a:ext cx="7315200" cy="1463040"/>
          </a:xfrm>
          <a:prstGeom prst="rect">
            <a:avLst/>
          </a:prstGeom>
          <a:noFill/>
        </p:spPr>
        <p:txBody>
          <a:bodyPr wrap="square">
            <a:spAutoFit/>
          </a:bodyPr>
          <a:lstStyle/>
          <a:p>
            <a:pPr>
              <a:defRPr sz="2000">
                <a:solidFill>
                  <a:srgbClr val="C8DCF0"/>
                </a:solidFill>
              </a:defRPr>
            </a:pPr>
            <a:r>
              <a:t>The adoption of AI in healthcare raises several challenges and ethical considerations, including data privacy, security, and regulatory compliance. There are also concerns around bias in AI algorithms, which can perpetuate existing healthcare disparities. Furthermore, the lack of standardization and interoperability in healthcare data can hinder the development of effective AI solutions.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ark_executive_deep.jp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0" y="0"/>
            <a:ext cx="1645920" cy="411480"/>
          </a:xfrm>
          <a:prstGeom prst="rect">
            <a:avLst/>
          </a:prstGeom>
          <a:solidFill>
            <a:srgbClr val="DCB450"/>
          </a:solidFill>
          <a:ln>
            <a:noFill/>
          </a:ln>
        </p:spPr>
        <p:txBody>
          <a:bodyPr wrap="none">
            <a:spAutoFit/>
          </a:bodyPr>
          <a:lstStyle/>
          <a:p/>
        </p:txBody>
      </p:sp>
      <p:sp>
        <p:nvSpPr>
          <p:cNvPr id="4" name="TextBox 3"/>
          <p:cNvSpPr txBox="1"/>
          <p:nvPr/>
        </p:nvSpPr>
        <p:spPr>
          <a:xfrm>
            <a:off x="822960" y="731520"/>
            <a:ext cx="7315200" cy="914400"/>
          </a:xfrm>
          <a:prstGeom prst="rect">
            <a:avLst/>
          </a:prstGeom>
          <a:noFill/>
        </p:spPr>
        <p:txBody>
          <a:bodyPr wrap="none">
            <a:spAutoFit/>
          </a:bodyPr>
          <a:lstStyle/>
          <a:p>
            <a:pPr>
              <a:defRPr sz="2800" b="1">
                <a:solidFill>
                  <a:srgbClr val="F0F5FA"/>
                </a:solidFill>
              </a:defRPr>
            </a:pPr>
            <a:r>
              <a:t>Slide 10: Future Outlook &amp; Roadmap</a:t>
            </a:r>
          </a:p>
        </p:txBody>
      </p:sp>
      <p:sp>
        <p:nvSpPr>
          <p:cNvPr id="5" name="TextBox 4"/>
          <p:cNvSpPr txBox="1"/>
          <p:nvPr/>
        </p:nvSpPr>
        <p:spPr>
          <a:xfrm>
            <a:off x="822960" y="1737360"/>
            <a:ext cx="7315200" cy="1463040"/>
          </a:xfrm>
          <a:prstGeom prst="rect">
            <a:avLst/>
          </a:prstGeom>
          <a:noFill/>
        </p:spPr>
        <p:txBody>
          <a:bodyPr wrap="square">
            <a:spAutoFit/>
          </a:bodyPr>
          <a:lstStyle/>
          <a:p>
            <a:pPr>
              <a:defRPr sz="2000">
                <a:solidFill>
                  <a:srgbClr val="C8DCF0"/>
                </a:solidFill>
              </a:defRPr>
            </a:pPr>
            <a:r>
              <a:t>The future of AI in healthcare looks promising, with predicted trends indicating increased adoption and investment in this space. As the technology continues to evolve, we can expect to see more sophisticated applications of AI, including the use of edge computing, 5G networks, and the Internet of Medical Things (IoMT). The next few years will be critical in shaping the future of AI in healthcare, with a focus on addressing regulatory and ethical challenges.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ark_executive_deep.jp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0" y="0"/>
            <a:ext cx="1645920" cy="411480"/>
          </a:xfrm>
          <a:prstGeom prst="rect">
            <a:avLst/>
          </a:prstGeom>
          <a:solidFill>
            <a:srgbClr val="DCB450"/>
          </a:solidFill>
          <a:ln>
            <a:noFill/>
          </a:ln>
        </p:spPr>
        <p:txBody>
          <a:bodyPr wrap="none">
            <a:spAutoFit/>
          </a:bodyPr>
          <a:lstStyle/>
          <a:p/>
        </p:txBody>
      </p:sp>
      <p:sp>
        <p:nvSpPr>
          <p:cNvPr id="4" name="TextBox 3"/>
          <p:cNvSpPr txBox="1"/>
          <p:nvPr/>
        </p:nvSpPr>
        <p:spPr>
          <a:xfrm>
            <a:off x="822960" y="731520"/>
            <a:ext cx="7315200" cy="914400"/>
          </a:xfrm>
          <a:prstGeom prst="rect">
            <a:avLst/>
          </a:prstGeom>
          <a:noFill/>
        </p:spPr>
        <p:txBody>
          <a:bodyPr wrap="none">
            <a:spAutoFit/>
          </a:bodyPr>
          <a:lstStyle/>
          <a:p>
            <a:pPr>
              <a:defRPr sz="2800" b="1">
                <a:solidFill>
                  <a:srgbClr val="F0F5FA"/>
                </a:solidFill>
              </a:defRPr>
            </a:pPr>
            <a:r>
              <a:t>Slide 11: Conclusion &amp; Recommendations</a:t>
            </a:r>
          </a:p>
        </p:txBody>
      </p:sp>
      <p:sp>
        <p:nvSpPr>
          <p:cNvPr id="5" name="TextBox 4"/>
          <p:cNvSpPr txBox="1"/>
          <p:nvPr/>
        </p:nvSpPr>
        <p:spPr>
          <a:xfrm>
            <a:off x="822960" y="1645920"/>
            <a:ext cx="7315200" cy="4572000"/>
          </a:xfrm>
          <a:prstGeom prst="rect">
            <a:avLst/>
          </a:prstGeom>
          <a:noFill/>
        </p:spPr>
        <p:txBody>
          <a:bodyPr wrap="none">
            <a:spAutoFit/>
          </a:bodyPr>
          <a:lstStyle/>
          <a:p/>
          <a:p>
            <a:pPr>
              <a:defRPr sz="2000">
                <a:solidFill>
                  <a:srgbClr val="C8DCF0"/>
                </a:solidFill>
              </a:defRPr>
            </a:pPr>
            <a:r>
              <a:t>• Investing in AI-powered solutions that address specific clinical and operational challenges</a:t>
            </a:r>
          </a:p>
          <a:p>
            <a:pPr>
              <a:defRPr sz="2000">
                <a:solidFill>
                  <a:srgbClr val="C8DCF0"/>
                </a:solidFill>
              </a:defRPr>
            </a:pPr>
            <a:r>
              <a:t>• Developing strategic partnerships with AI vendors and research institutions to stay ahead of the curve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ark_executive_deep.jp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0" y="0"/>
            <a:ext cx="1645920" cy="411480"/>
          </a:xfrm>
          <a:prstGeom prst="rect">
            <a:avLst/>
          </a:prstGeom>
          <a:solidFill>
            <a:srgbClr val="DCB450"/>
          </a:solidFill>
          <a:ln>
            <a:noFill/>
          </a:ln>
        </p:spPr>
        <p:txBody>
          <a:bodyPr wrap="none">
            <a:spAutoFit/>
          </a:bodyPr>
          <a:lstStyle/>
          <a:p/>
        </p:txBody>
      </p:sp>
      <p:sp>
        <p:nvSpPr>
          <p:cNvPr id="4" name="TextBox 3"/>
          <p:cNvSpPr txBox="1"/>
          <p:nvPr/>
        </p:nvSpPr>
        <p:spPr>
          <a:xfrm>
            <a:off x="822960" y="731520"/>
            <a:ext cx="7315200" cy="914400"/>
          </a:xfrm>
          <a:prstGeom prst="rect">
            <a:avLst/>
          </a:prstGeom>
          <a:noFill/>
        </p:spPr>
        <p:txBody>
          <a:bodyPr wrap="none">
            <a:spAutoFit/>
          </a:bodyPr>
          <a:lstStyle/>
          <a:p>
            <a:pPr>
              <a:defRPr sz="2800" b="1">
                <a:solidFill>
                  <a:srgbClr val="F0F5FA"/>
                </a:solidFill>
              </a:defRPr>
            </a:pPr>
            <a:r>
              <a:t>Slide 12: Final Thoughts</a:t>
            </a:r>
          </a:p>
        </p:txBody>
      </p:sp>
      <p:sp>
        <p:nvSpPr>
          <p:cNvPr id="5" name="TextBox 4"/>
          <p:cNvSpPr txBox="1"/>
          <p:nvPr/>
        </p:nvSpPr>
        <p:spPr>
          <a:xfrm>
            <a:off x="822960" y="1737360"/>
            <a:ext cx="7315200" cy="1463040"/>
          </a:xfrm>
          <a:prstGeom prst="rect">
            <a:avLst/>
          </a:prstGeom>
          <a:noFill/>
        </p:spPr>
        <p:txBody>
          <a:bodyPr wrap="square">
            <a:spAutoFit/>
          </a:bodyPr>
          <a:lstStyle/>
          <a:p>
            <a:pPr>
              <a:defRPr sz="2000">
                <a:solidFill>
                  <a:srgbClr val="C8DCF0"/>
                </a:solidFill>
              </a:defRPr>
            </a:pPr>
            <a:r>
              <a:t>The journey to AI-powered healthcare is just beginning, and it will require collaboration, innovation, and a commitment to addressing the challenges and ethics surrounding this technology. As we move forward, it is essential to prioritize patient-centered design, ensure regulatory compliance, and foster a culture of continuous learning and improvement.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